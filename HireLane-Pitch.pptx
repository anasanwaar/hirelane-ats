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2024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E0342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0" y="1965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</a:t>
            </a:r>
            <a:pPr indent="0" marL="0">
              <a:buNone/>
            </a:pPr>
            <a:r>
              <a:rPr lang="en-US" sz="44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applicant, down to the right hire.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AI-assisted, multi-tenant Applicant Tracking System — post to every board, screen every applicant with explainable AI, run proctored assessments and interviews, and keep one auditable record per candidate.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overview · features · role-by-role how-to guide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hiring is slow, scattered, and gut-feel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teams struggle with today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posts are copy-pasted across boards by hand — inconsistent and slow.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Applicants pile up in inboxes and spreadsheets — no single source of truth.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is manual and subjective — strong candidates slip through.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 and interviews live in separate tools with no shared record.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fine-grained control over who on the team can see or do what.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one place, from application to hire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HireLane fixes 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screening ranks every applicant against the role with explainable match reports.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job-post generation drafts platform-tuned posts in seconds.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proctored assessments — AI-generated or from a reusable library, auto-graded.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interviews with scheduling, a live room, and blind scorecards (no anchoring).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auditable candidate record; notes &amp; @mentions keep the team aligned.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with role-based permissions enforced at the database (RLS) — not just hidden.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coverage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a single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73152" cy="141732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9751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Screening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3774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match reports rank applicants against the role's weighted criteria.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62272" y="182880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2272" y="1828800"/>
            <a:ext cx="73152" cy="141732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11" name="Text 9"/>
          <p:cNvSpPr/>
          <p:nvPr/>
        </p:nvSpPr>
        <p:spPr>
          <a:xfrm>
            <a:off x="4718304" y="19751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Job Posts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18304" y="23774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on-brand, platform-tuned posts from a job title.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84464" y="182880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4464" y="1828800"/>
            <a:ext cx="73152" cy="141732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15" name="Text 13"/>
          <p:cNvSpPr/>
          <p:nvPr/>
        </p:nvSpPr>
        <p:spPr>
          <a:xfrm>
            <a:off x="8540496" y="19751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40496" y="23774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or library tests, auto-graded, with proctoring signals.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502152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502152"/>
            <a:ext cx="73152" cy="141732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36484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" y="405079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Schedule, run in-app, and score with blind scorecards.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62272" y="3502152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62272" y="3502152"/>
            <a:ext cx="73152" cy="141732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23" name="Text 21"/>
          <p:cNvSpPr/>
          <p:nvPr/>
        </p:nvSpPr>
        <p:spPr>
          <a:xfrm>
            <a:off x="4718304" y="36484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18304" y="405079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→ Screened → Shortlisted → Assessed → Interviewed → Offer → Hired.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84464" y="3502152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84464" y="3502152"/>
            <a:ext cx="73152" cy="141732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27" name="Text 25"/>
          <p:cNvSpPr/>
          <p:nvPr/>
        </p:nvSpPr>
        <p:spPr>
          <a:xfrm>
            <a:off x="8540496" y="36484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Pool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40496" y="405079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bench of tagged candidates for future roles.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175504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175504"/>
            <a:ext cx="73152" cy="141732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1" name="Text 29"/>
          <p:cNvSpPr/>
          <p:nvPr/>
        </p:nvSpPr>
        <p:spPr>
          <a:xfrm>
            <a:off x="896112" y="53218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RLS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6112" y="5724144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permissions enforced in the database per tenant.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62272" y="5175504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62272" y="5175504"/>
            <a:ext cx="73152" cy="141732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5" name="Text 33"/>
          <p:cNvSpPr/>
          <p:nvPr/>
        </p:nvSpPr>
        <p:spPr>
          <a:xfrm>
            <a:off x="4718304" y="53218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18304" y="5724144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Plans, seats, and in-app Stripe checkout with usage limits.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84464" y="5175504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84464" y="5175504"/>
            <a:ext cx="73152" cy="141732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9" name="Text 37"/>
          <p:cNvSpPr/>
          <p:nvPr/>
        </p:nvSpPr>
        <p:spPr>
          <a:xfrm>
            <a:off x="8540496" y="53218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Reports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40496" y="5724144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action trail plus funnel, time-to-hire and source metrics.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whole hiring team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this guide covers (super-admin excluded)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Admin / Owner — sets up the workspace, team, roles, and billing.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— creates openings, sources &amp; screens candidates, runs the pipeline.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Lead / Manager — reviews shortlists, assigns assessments, decides.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Interviewer — runs interviews and submits blind scorecards.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— applies and completes assessments through the external portal.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HOW-TO · ROLE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Admin / Owner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01568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and run the workspace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ADMIN · 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your company profile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Admin → Company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admin tools sit under one Administration tab bar.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86584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identity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name, logo, brand colour and careers URL.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72968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flows everywhere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 appears on job posts, candidate portals and emails.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33088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33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0690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zone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or delete the workspace — protected by 2FA + typed-name confirm.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16752" y="1216152"/>
            <a:ext cx="5797296" cy="4791456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  <a:effectLst>
            <a:outerShdw sx="100000" sy="100000" kx="0" ky="0" algn="bl" rotWithShape="0" blurRad="152400" dist="38100" dir="5400000">
              <a:srgbClr val="999999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25880"/>
            <a:ext cx="557784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6291072" y="1508760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6510528" y="1508760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9984" y="1508760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1325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· Company profile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brand, everywhere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9224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logo, brand colour, careers URL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to posts, portals &amp; emails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Deactivate / delete with safeguards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ADMIN · 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your team &amp; set roles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→ Users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teammates by email; they set a password and join.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86584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→ Roles &amp; Permissions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exactly what each role can see and 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72968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Enforced, not hidden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are applied in the database (RLS), not just the UI.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16752" y="1216152"/>
            <a:ext cx="5797296" cy="4791456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  <a:effectLst>
            <a:outerShdw sx="100000" sy="100000" kx="0" ky="0" algn="bl" rotWithShape="0" blurRad="152400" dist="38100" dir="5400000">
              <a:srgbClr val="999999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557784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1508760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0528" y="1508760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9984" y="1508760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325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· Users &amp; Roles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do what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9224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invites &amp; seat management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permission catalogue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Row-Level-Security enforcement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ADMIN · 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plan &amp; manage billing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→ Plans &amp; billing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Free / Basic / Premium and see usage vs limits.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86584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in-app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Stripe card entry embedded on the page — no redirect.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46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282696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control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seats, switch or cancel any time; over-limit alerts guide upgrades.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16752" y="1216152"/>
            <a:ext cx="5797296" cy="4791456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  <a:effectLst>
            <a:outerShdw sx="100000" sy="100000" kx="0" ky="0" algn="bl" rotWithShape="0" blurRad="152400" dist="38100" dir="5400000">
              <a:srgbClr val="999999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557784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1508760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0528" y="1508760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9984" y="1508760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325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· Plans &amp; billing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Flexible, transparent billing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9224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/ Basic / Premium / Custom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Stripe checkout &amp; seats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usage vs plan limits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ADMIN · STEP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accountable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→ Audit Log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trail of who changed what, and when.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86584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policy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default proctoring and retake rules for every new test.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16752" y="1216152"/>
            <a:ext cx="5797296" cy="4791456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  <a:effectLst>
            <a:outerShdw sx="100000" sy="100000" kx="0" ky="0" algn="bl" rotWithShape="0" blurRad="152400" dist="38100" dir="5400000">
              <a:srgbClr val="999999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325880"/>
            <a:ext cx="557784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91072" y="1508760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2"/>
          <p:cNvSpPr/>
          <p:nvPr/>
        </p:nvSpPr>
        <p:spPr>
          <a:xfrm>
            <a:off x="6510528" y="1508760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9984" y="1508760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325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· Audit log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accountability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privileged action logged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Org-wide assessment defaults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Exportable trail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HOW-TO · ROLE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01568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Source, screen, and move candidates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· 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the dashboard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Dashboard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funnel, upcoming interviews and recent activity at a glance.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49631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Live, not sample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is your real data, scoped to your workspace.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16752" y="1216152"/>
            <a:ext cx="5797296" cy="4791456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  <a:effectLst>
            <a:outerShdw sx="100000" sy="100000" kx="0" ky="0" algn="bl" rotWithShape="0" blurRad="152400" dist="38100" dir="5400000">
              <a:srgbClr val="999999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325880"/>
            <a:ext cx="557784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91072" y="1508760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2"/>
          <p:cNvSpPr/>
          <p:nvPr/>
        </p:nvSpPr>
        <p:spPr>
          <a:xfrm>
            <a:off x="6510528" y="1508760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9984" y="1508760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325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· Dashboard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hiring at a glance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positions &amp; active candidates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funnel by stage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interviews &amp; activity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· 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job opening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Openings → New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title, department, and must-have requirements.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86584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screening weights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AI what matters most for this role.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72968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&amp; share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role and share the apply link with candidates.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16752" y="1216152"/>
            <a:ext cx="5797296" cy="4791456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  <a:effectLst>
            <a:outerShdw sx="100000" sy="100000" kx="0" ky="0" algn="bl" rotWithShape="0" blurRad="152400" dist="38100" dir="5400000">
              <a:srgbClr val="999999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557784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1508760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0528" y="1508760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9984" y="1508760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325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· New opening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role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9224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department, requirements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screening criteria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public apply link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· 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AI job posts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→ Posts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writes a platform-tuned post for each channel in seconds.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49631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publish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Edit, then publish in assisted mode.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46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282696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posting to LinkedIn/Indeed via integrations is on the way.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16752" y="1216152"/>
            <a:ext cx="5797296" cy="4791456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  <a:effectLst>
            <a:outerShdw sx="100000" sy="100000" kx="0" ky="0" algn="bl" rotWithShape="0" blurRad="152400" dist="38100" dir="5400000">
              <a:srgbClr val="999999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557784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1508760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0528" y="1508760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9984" y="1508760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325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· AI posts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title to post in seconds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9224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Platform-tuned AI drafts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&amp; publish (assisted)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SEO-scored content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· STEP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AI-screen candidates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/ Applicants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candidates manually or let them apply via the link.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86584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ranking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applicant is scored against the role with an explainable match report.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46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282696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the pipeline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candidates from Applied all the way to Hired.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16752" y="1216152"/>
            <a:ext cx="5797296" cy="4791456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  <a:effectLst>
            <a:outerShdw sx="100000" sy="100000" kx="0" ky="0" algn="bl" rotWithShape="0" blurRad="152400" dist="38100" dir="5400000">
              <a:srgbClr val="999999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557784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1508760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0528" y="1508760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9984" y="1508760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325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· Candidates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Rank, don't read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9224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match scores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candidates or accept applies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through the hiring pipeline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HOW-TO · ROLE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Lead / Manager &amp; Interviewer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01568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Review, assess, interview, decide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MANAGER · 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assessments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role-specific test with AI, or reuse one from the library.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49631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Auto-graded + proctored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questions grade instantly; integrity signals are flagged.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16752" y="1216152"/>
            <a:ext cx="5797296" cy="4791456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  <a:effectLst>
            <a:outerShdw sx="100000" sy="100000" kx="0" ky="0" algn="bl" rotWithShape="0" blurRad="152400" dist="38100" dir="5400000">
              <a:srgbClr val="999999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325880"/>
            <a:ext cx="557784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91072" y="1508760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2"/>
          <p:cNvSpPr/>
          <p:nvPr/>
        </p:nvSpPr>
        <p:spPr>
          <a:xfrm>
            <a:off x="6510528" y="1508760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9984" y="1508760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325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· Assessments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for skill, fast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or reusable tests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auto-grading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Proctoring &amp; integrity flags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MANAGER · 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&amp; run interviews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 → Schedule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 applicant (candidate + role), time, and panel.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86584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in-app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built-in interview room — no external tool.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72968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scorecards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Panelists score independently; peers' ratings unlock only after you submit.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16752" y="1216152"/>
            <a:ext cx="5797296" cy="4791456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  <a:effectLst>
            <a:outerShdw sx="100000" sy="100000" kx="0" ky="0" algn="bl" rotWithShape="0" blurRad="152400" dist="38100" dir="5400000">
              <a:srgbClr val="999999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557784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1508760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0528" y="1508760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9984" y="1508760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325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· Interviews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Structured, unbiased interviews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9224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scheduling &amp; room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management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scorecards — no anchoring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MANAGER · 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with the full picture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Funnel, time-to-hire and source metrics across the org.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86584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record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Scores, assessments, interviews and notes all live on the candidate.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46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282696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and @mentions keep the whole panel aligned.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16752" y="1216152"/>
            <a:ext cx="5797296" cy="4791456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  <a:effectLst>
            <a:outerShdw sx="100000" sy="100000" kx="0" ky="0" algn="bl" rotWithShape="0" blurRad="152400" dist="38100" dir="5400000">
              <a:srgbClr val="999999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557784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1508760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0528" y="1508760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9984" y="1508760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325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· Reports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decisions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9224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&amp; time-to-hire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auditable candidate record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&amp; @mentions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HOW-TO · ROLE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01568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external experience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· 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in minutes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apply link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 needed — add profile details and upload a CV.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86584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&amp; clear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see your company's brand, not a generic form.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16752" y="1216152"/>
            <a:ext cx="5797296" cy="4791456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  <a:effectLst>
            <a:outerShdw sx="100000" sy="100000" kx="0" ky="0" algn="bl" rotWithShape="0" blurRad="152400" dist="38100" dir="5400000">
              <a:srgbClr val="999999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325880"/>
            <a:ext cx="557784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91072" y="1508760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2"/>
          <p:cNvSpPr/>
          <p:nvPr/>
        </p:nvSpPr>
        <p:spPr>
          <a:xfrm>
            <a:off x="6510528" y="1508760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9984" y="1508760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325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· Apply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frictionless application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 required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+ CV upload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brand, not a generic form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· 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assessments &amp; track status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Distraction-free runner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timed test with autosave and a question palette.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86584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Tab-switch/copy detection; question text can't be copied.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FBE3E0"/>
          </a:solidFill>
          <a:ln w="12700">
            <a:solidFill>
              <a:srgbClr val="E034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72968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portal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application status and next steps from one link.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16752" y="1216152"/>
            <a:ext cx="5797296" cy="4791456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E6DED3"/>
            </a:solidFill>
            <a:prstDash val="solid"/>
          </a:ln>
          <a:effectLst>
            <a:outerShdw sx="100000" sy="100000" kx="0" ky="0" algn="bl" rotWithShape="0" blurRad="152400" dist="38100" dir="5400000">
              <a:srgbClr val="999999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557784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1508760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0528" y="1508760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9984" y="1508760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325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· Portal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Fair, transparent testing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9224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runner with autosave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Copy-proof, proctored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status in the portal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&amp; pricing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transparent tiers — enforced server-side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— 1 seat, up to 5 openings, applicant tracking &amp; pipeline.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($49/mo) — 3 seats, unlimited openings, AI job-post generation.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($149/mo) — up to 10 seats, AI screening &amp; match reports, AI assessments + grading, proctoring &amp; interviews.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— bespoke limits &amp; all features, assigned by our team.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Add-on seats, prorated. Limits and locked features are enforced in the database — not just hidden.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&amp; multi-tenant by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built 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 isolates every tenant's data at the database layer.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permissions from a central catalogue — the UI and DB never disagree.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two-factor authentication (TOTP / Google Authenticator).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log of privileged actions; proctoring evidence with retention limits.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34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smarter, together.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564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HireLane — every applicant, down to the right hire.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HireLane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HireLane — AI-assisted ATS</dc:title>
  <dc:subject>PptxGenJS Presentation</dc:subject>
  <dc:creator>HireLane</dc:creator>
  <cp:lastModifiedBy>HireLane</cp:lastModifiedBy>
  <cp:revision>1</cp:revision>
  <dcterms:created xsi:type="dcterms:W3CDTF">2026-08-18T15:35:05Z</dcterms:created>
  <dcterms:modified xsi:type="dcterms:W3CDTF">2026-08-18T15:35:05Z</dcterms:modified>
</cp:coreProperties>
</file>