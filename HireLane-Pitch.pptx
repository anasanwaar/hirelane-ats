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342C"/>
          </a:solidFill>
          <a:ln/>
        </p:spPr>
      </p:sp>
      <p:pic>
        <p:nvPicPr>
          <p:cNvPr id="3" name="Image 0" descr="D:\Anas\Projects\Learning\ATSPortal\HireLane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371600"/>
            <a:ext cx="3840480" cy="2560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39776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applicant, down to the right hire.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822960" y="4709160"/>
            <a:ext cx="9692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AI-assisted, multi-tenant Applicant Tracking System — post to every board, screen every applicant with explainable AI, run proctored assessments and interviews, and keep one auditable record per candidate.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overview · features · role-by-role how-to guide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 hiring is slow, scattered, and gut-feel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teams struggle with today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103120"/>
            <a:ext cx="10424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posts are copy-pasted across boards by hand — inconsistent and slow.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Applicants pile up in inboxes and spreadsheets — no single source of truth.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Screening is manual and subjective — strong candidates slip through.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 and interviews live in separate tools with no shared record.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fine-grained control over who on the team can see or do what.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solution: one place, from application to hire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HireLane fixes it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103120"/>
            <a:ext cx="10424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screening ranks every applicant against the role with explainable match reports.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job-post generation drafts platform-tuned posts in seconds.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proctored assessments — AI-generated or from a reusable library, auto-graded.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In-app interviews with scheduling, a live room, and blind scorecards (no anchoring).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auditable candidate record; notes &amp; @mentions keep the team aligned.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with role-based permissions enforced at the database (RLS) — not just hidden.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coverage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in a single system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6DE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28800"/>
            <a:ext cx="73152" cy="141732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975104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Screening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2377440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match reports rank applicants against the role's weighted criteria.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62272" y="1828800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6DED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62272" y="1828800"/>
            <a:ext cx="73152" cy="141732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11" name="Text 9"/>
          <p:cNvSpPr/>
          <p:nvPr/>
        </p:nvSpPr>
        <p:spPr>
          <a:xfrm>
            <a:off x="4718304" y="1975104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Job Posts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18304" y="2377440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on-brand, platform-tuned posts from a job title.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84464" y="1828800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6DED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84464" y="1828800"/>
            <a:ext cx="73152" cy="141732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15" name="Text 13"/>
          <p:cNvSpPr/>
          <p:nvPr/>
        </p:nvSpPr>
        <p:spPr>
          <a:xfrm>
            <a:off x="8540496" y="1975104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40496" y="2377440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AI-generated or library tests, auto-graded, with proctoring signals.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502152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6DE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502152"/>
            <a:ext cx="73152" cy="141732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364845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96112" y="4050792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Schedule, run in-app, and score with blind scorecards.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462272" y="3502152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6DED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62272" y="3502152"/>
            <a:ext cx="73152" cy="141732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23" name="Text 21"/>
          <p:cNvSpPr/>
          <p:nvPr/>
        </p:nvSpPr>
        <p:spPr>
          <a:xfrm>
            <a:off x="4718304" y="364845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718304" y="4050792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Applied → Screened → Shortlisted → Assessed → Interviewed → Offer → Hired.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284464" y="3502152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6DED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84464" y="3502152"/>
            <a:ext cx="73152" cy="141732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27" name="Text 25"/>
          <p:cNvSpPr/>
          <p:nvPr/>
        </p:nvSpPr>
        <p:spPr>
          <a:xfrm>
            <a:off x="8540496" y="364845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Pool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540496" y="4050792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reusable bench of tagged candidates for future roles.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175504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6DED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5175504"/>
            <a:ext cx="73152" cy="141732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" y="53218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&amp; RLS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96112" y="5724144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Fine-grained permissions enforced in the database per tenant.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462272" y="5175504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6DED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62272" y="5175504"/>
            <a:ext cx="73152" cy="141732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5" name="Text 33"/>
          <p:cNvSpPr/>
          <p:nvPr/>
        </p:nvSpPr>
        <p:spPr>
          <a:xfrm>
            <a:off x="4718304" y="53218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718304" y="5724144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Plans, seats, and in-app Stripe checkout with usage limits.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284464" y="5175504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6DED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84464" y="5175504"/>
            <a:ext cx="73152" cy="141732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9" name="Text 37"/>
          <p:cNvSpPr/>
          <p:nvPr/>
        </p:nvSpPr>
        <p:spPr>
          <a:xfrm>
            <a:off x="8540496" y="53218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&amp; Reports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540496" y="5724144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action trail plus funnel, time-to-hire and source metrics.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the whole hiring team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this guide covers (super-admin excluded)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103120"/>
            <a:ext cx="10424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Admin / Owner — sets up the workspace, team, roles, and billing.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 — creates openings, sources &amp; screens candidates, runs the pipeline.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Hiring Lead / Manager — reviews shortlists, assigns assessments, decides.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Interviewer — runs interviews and submits blind scorecards.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— applies and completes assessments through the external portal.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00400"/>
            <a:ext cx="12191695" cy="4572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HOW-TO · ROLE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Admin / Owner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401568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4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and run the workspace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ADMIN · STEP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58952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your company profile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642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60020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Admin → Company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admin tools sit under one Administration tab bar.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50592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50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2386584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your identity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name, logo, brand colour and careers URL.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36976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369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3172968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flows everywhere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brand appears on job posts, candidate portals and emails.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133088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1330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406908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 zone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or delete the workspace — protected by 2FA + typed-name confirm.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16752" y="1216152"/>
            <a:ext cx="5797296" cy="4791456"/>
          </a:xfrm>
          <a:prstGeom prst="roundRect">
            <a:avLst>
              <a:gd name="adj" fmla="val 1527"/>
            </a:avLst>
          </a:prstGeom>
          <a:solidFill>
            <a:srgbClr val="FFFFFF"/>
          </a:solidFill>
          <a:ln w="12700">
            <a:solidFill>
              <a:srgbClr val="E6DED3"/>
            </a:solidFill>
            <a:prstDash val="solid"/>
          </a:ln>
          <a:effectLst>
            <a:outerShdw sx="100000" sy="100000" kx="0" ky="0" algn="bl" rotWithShape="0" blurRad="152400" dist="38100" dir="5400000">
              <a:srgbClr val="999999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26480" y="1325880"/>
            <a:ext cx="5577840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Shape 17"/>
          <p:cNvSpPr/>
          <p:nvPr/>
        </p:nvSpPr>
        <p:spPr>
          <a:xfrm>
            <a:off x="6291072" y="1508760"/>
            <a:ext cx="146304" cy="146304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20" name="Shape 18"/>
          <p:cNvSpPr/>
          <p:nvPr/>
        </p:nvSpPr>
        <p:spPr>
          <a:xfrm>
            <a:off x="6510528" y="1508760"/>
            <a:ext cx="146304" cy="146304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21" name="Shape 19"/>
          <p:cNvSpPr/>
          <p:nvPr/>
        </p:nvSpPr>
        <p:spPr>
          <a:xfrm>
            <a:off x="6729984" y="1508760"/>
            <a:ext cx="146304" cy="146304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0" y="13258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· Company profile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46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brand, everywhere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92240" y="26974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logo, brand colour, careers URL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Applied to posts, portals &amp; emails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Deactivate / delete with safeguards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ADMIN · STEP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58952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Invite your team &amp; set roles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642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60020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→ Users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Invite teammates by email; they set a password and join.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50592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50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2386584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→ Roles &amp; Permissions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exactly what each role can see and do.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36976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369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3172968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Enforced, not hidden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Permissions are applied in the database (RLS), not just the UI.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16752" y="1216152"/>
            <a:ext cx="5797296" cy="4791456"/>
          </a:xfrm>
          <a:prstGeom prst="roundRect">
            <a:avLst>
              <a:gd name="adj" fmla="val 1527"/>
            </a:avLst>
          </a:prstGeom>
          <a:solidFill>
            <a:srgbClr val="FFFFFF"/>
          </a:solidFill>
          <a:ln w="12700">
            <a:solidFill>
              <a:srgbClr val="E6DED3"/>
            </a:solidFill>
            <a:prstDash val="solid"/>
          </a:ln>
          <a:effectLst>
            <a:outerShdw sx="100000" sy="100000" kx="0" ky="0" algn="bl" rotWithShape="0" blurRad="152400" dist="38100" dir="5400000">
              <a:srgbClr val="999999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325880"/>
            <a:ext cx="5577840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Shape 14"/>
          <p:cNvSpPr/>
          <p:nvPr/>
        </p:nvSpPr>
        <p:spPr>
          <a:xfrm>
            <a:off x="6291072" y="1508760"/>
            <a:ext cx="146304" cy="146304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0528" y="1508760"/>
            <a:ext cx="146304" cy="146304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8" name="Shape 16"/>
          <p:cNvSpPr/>
          <p:nvPr/>
        </p:nvSpPr>
        <p:spPr>
          <a:xfrm>
            <a:off x="6729984" y="1508760"/>
            <a:ext cx="146304" cy="146304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0" y="13258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· Users &amp; Roles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can do what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92240" y="26974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invites &amp; seat management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Fine-grained permission catalogue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Row-Level-Security enforcement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ADMIN · STEP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58952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billing &amp; the workspace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642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60020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→ Plans &amp; billing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usage vs limits; upgrade, add seats, or cancel in-app.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50592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50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2386584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in-app checkout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entry is embedded on the page — no redirect.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36976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369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3172968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&amp; policy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action trail, plus org-wide assessment/proctoring defaults.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16752" y="1216152"/>
            <a:ext cx="5797296" cy="4791456"/>
          </a:xfrm>
          <a:prstGeom prst="roundRect">
            <a:avLst>
              <a:gd name="adj" fmla="val 1527"/>
            </a:avLst>
          </a:prstGeom>
          <a:solidFill>
            <a:srgbClr val="FFFFFF"/>
          </a:solidFill>
          <a:ln w="12700">
            <a:solidFill>
              <a:srgbClr val="E6DED3"/>
            </a:solidFill>
            <a:prstDash val="solid"/>
          </a:ln>
          <a:effectLst>
            <a:outerShdw sx="100000" sy="100000" kx="0" ky="0" algn="bl" rotWithShape="0" blurRad="152400" dist="38100" dir="5400000">
              <a:srgbClr val="999999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325880"/>
            <a:ext cx="5577840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Shape 14"/>
          <p:cNvSpPr/>
          <p:nvPr/>
        </p:nvSpPr>
        <p:spPr>
          <a:xfrm>
            <a:off x="6291072" y="1508760"/>
            <a:ext cx="146304" cy="146304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0528" y="1508760"/>
            <a:ext cx="146304" cy="146304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8" name="Shape 16"/>
          <p:cNvSpPr/>
          <p:nvPr/>
        </p:nvSpPr>
        <p:spPr>
          <a:xfrm>
            <a:off x="6729984" y="1508760"/>
            <a:ext cx="146304" cy="146304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0" y="13258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· Billing &amp; audit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&amp; accountability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92240" y="26974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 Stripe checkout &amp; seats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usage vs plan limits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privileged action logged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00400"/>
            <a:ext cx="12191695" cy="4572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HOW-TO · ROLE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401568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4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Source, screen, and move candidates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 · STEP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58952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from the dashboard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642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60020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Dashboard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funnel, upcoming interviews and recent activity at a glance.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603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2496312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Live, not sample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is your real data, scoped to your workspace.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16752" y="1216152"/>
            <a:ext cx="5797296" cy="4791456"/>
          </a:xfrm>
          <a:prstGeom prst="roundRect">
            <a:avLst>
              <a:gd name="adj" fmla="val 1527"/>
            </a:avLst>
          </a:prstGeom>
          <a:solidFill>
            <a:srgbClr val="FFFFFF"/>
          </a:solidFill>
          <a:ln w="12700">
            <a:solidFill>
              <a:srgbClr val="E6DED3"/>
            </a:solidFill>
            <a:prstDash val="solid"/>
          </a:ln>
          <a:effectLst>
            <a:outerShdw sx="100000" sy="100000" kx="0" ky="0" algn="bl" rotWithShape="0" blurRad="152400" dist="38100" dir="5400000">
              <a:srgbClr val="999999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1325880"/>
            <a:ext cx="5577840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Shape 11"/>
          <p:cNvSpPr/>
          <p:nvPr/>
        </p:nvSpPr>
        <p:spPr>
          <a:xfrm>
            <a:off x="6291072" y="1508760"/>
            <a:ext cx="146304" cy="146304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4" name="Shape 12"/>
          <p:cNvSpPr/>
          <p:nvPr/>
        </p:nvSpPr>
        <p:spPr>
          <a:xfrm>
            <a:off x="6510528" y="1508760"/>
            <a:ext cx="146304" cy="146304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729984" y="1508760"/>
            <a:ext cx="146304" cy="146304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0" y="13258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 · Dashboard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hiring at a glance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92240" y="26974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positions &amp; active candidates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funnel by stage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Upcoming interviews &amp; activity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 · STEP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58952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job opening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642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60020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Openings → New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the title, department, and must-have requirements.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50592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50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2386584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screening weights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the AI what matters most for this role.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36976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369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3172968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&amp; share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role and share the apply link with candidates.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16752" y="1216152"/>
            <a:ext cx="5797296" cy="4791456"/>
          </a:xfrm>
          <a:prstGeom prst="roundRect">
            <a:avLst>
              <a:gd name="adj" fmla="val 1527"/>
            </a:avLst>
          </a:prstGeom>
          <a:solidFill>
            <a:srgbClr val="FFFFFF"/>
          </a:solidFill>
          <a:ln w="12700">
            <a:solidFill>
              <a:srgbClr val="E6DED3"/>
            </a:solidFill>
            <a:prstDash val="solid"/>
          </a:ln>
          <a:effectLst>
            <a:outerShdw sx="100000" sy="100000" kx="0" ky="0" algn="bl" rotWithShape="0" blurRad="152400" dist="38100" dir="5400000">
              <a:srgbClr val="999999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325880"/>
            <a:ext cx="5577840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Shape 14"/>
          <p:cNvSpPr/>
          <p:nvPr/>
        </p:nvSpPr>
        <p:spPr>
          <a:xfrm>
            <a:off x="6291072" y="1508760"/>
            <a:ext cx="146304" cy="146304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0528" y="1508760"/>
            <a:ext cx="146304" cy="146304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8" name="Shape 16"/>
          <p:cNvSpPr/>
          <p:nvPr/>
        </p:nvSpPr>
        <p:spPr>
          <a:xfrm>
            <a:off x="6729984" y="1508760"/>
            <a:ext cx="146304" cy="146304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0" y="13258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 · New opening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role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92240" y="26974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Title, department, requirements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screening criteria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One-click public apply link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 · STEP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58952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AI job posts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642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60020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→ Posts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writes a platform-tuned post for each channel in seconds.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603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2496312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&amp; publish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Edit, then publish in assisted mode.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346704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34670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3282696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Coming soon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One-click posting to LinkedIn/Indeed via integrations is on the way.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16752" y="1216152"/>
            <a:ext cx="5797296" cy="4791456"/>
          </a:xfrm>
          <a:prstGeom prst="roundRect">
            <a:avLst>
              <a:gd name="adj" fmla="val 1527"/>
            </a:avLst>
          </a:prstGeom>
          <a:solidFill>
            <a:srgbClr val="FFFFFF"/>
          </a:solidFill>
          <a:ln w="12700">
            <a:solidFill>
              <a:srgbClr val="E6DED3"/>
            </a:solidFill>
            <a:prstDash val="solid"/>
          </a:ln>
          <a:effectLst>
            <a:outerShdw sx="100000" sy="100000" kx="0" ky="0" algn="bl" rotWithShape="0" blurRad="152400" dist="38100" dir="5400000">
              <a:srgbClr val="999999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325880"/>
            <a:ext cx="5577840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Shape 14"/>
          <p:cNvSpPr/>
          <p:nvPr/>
        </p:nvSpPr>
        <p:spPr>
          <a:xfrm>
            <a:off x="6291072" y="1508760"/>
            <a:ext cx="146304" cy="146304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0528" y="1508760"/>
            <a:ext cx="146304" cy="146304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8" name="Shape 16"/>
          <p:cNvSpPr/>
          <p:nvPr/>
        </p:nvSpPr>
        <p:spPr>
          <a:xfrm>
            <a:off x="6729984" y="1508760"/>
            <a:ext cx="146304" cy="146304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0" y="13258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 · AI posts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title to post in seconds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92240" y="26974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Platform-tuned AI drafts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&amp; publish (assisted)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SEO-scored content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 · STEP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58952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AI-screen candidates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642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60020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Candidates / Applicants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candidates manually or let them apply via the link.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50592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50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2386584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ranking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applicant is scored against the role with an explainable match report.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346704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34670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3282696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the pipeline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candidates from Applied all the way to Hired.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16752" y="1216152"/>
            <a:ext cx="5797296" cy="4791456"/>
          </a:xfrm>
          <a:prstGeom prst="roundRect">
            <a:avLst>
              <a:gd name="adj" fmla="val 1527"/>
            </a:avLst>
          </a:prstGeom>
          <a:solidFill>
            <a:srgbClr val="FFFFFF"/>
          </a:solidFill>
          <a:ln w="12700">
            <a:solidFill>
              <a:srgbClr val="E6DED3"/>
            </a:solidFill>
            <a:prstDash val="solid"/>
          </a:ln>
          <a:effectLst>
            <a:outerShdw sx="100000" sy="100000" kx="0" ky="0" algn="bl" rotWithShape="0" blurRad="152400" dist="38100" dir="5400000">
              <a:srgbClr val="999999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325880"/>
            <a:ext cx="5577840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Shape 14"/>
          <p:cNvSpPr/>
          <p:nvPr/>
        </p:nvSpPr>
        <p:spPr>
          <a:xfrm>
            <a:off x="6291072" y="1508760"/>
            <a:ext cx="146304" cy="146304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0528" y="1508760"/>
            <a:ext cx="146304" cy="146304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8" name="Shape 16"/>
          <p:cNvSpPr/>
          <p:nvPr/>
        </p:nvSpPr>
        <p:spPr>
          <a:xfrm>
            <a:off x="6729984" y="1508760"/>
            <a:ext cx="146304" cy="146304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0" y="13258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 · Candidates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Rank, don't read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92240" y="26974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AI match scores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candidates or accept applies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through the hiring pipeline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00400"/>
            <a:ext cx="12191695" cy="4572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HOW-TO · ROLE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Hiring Lead / Manager &amp; Interviewer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401568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4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Review, assess, interview, decide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HIRING MANAGER · STEP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58952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 assessments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642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60020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a role-specific test with AI, or reuse one from the library.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603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2496312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Auto-graded + proctored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 questions grade instantly; integrity signals are flagged.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16752" y="1216152"/>
            <a:ext cx="5797296" cy="4791456"/>
          </a:xfrm>
          <a:prstGeom prst="roundRect">
            <a:avLst>
              <a:gd name="adj" fmla="val 1527"/>
            </a:avLst>
          </a:prstGeom>
          <a:solidFill>
            <a:srgbClr val="FFFFFF"/>
          </a:solidFill>
          <a:ln w="12700">
            <a:solidFill>
              <a:srgbClr val="E6DED3"/>
            </a:solidFill>
            <a:prstDash val="solid"/>
          </a:ln>
          <a:effectLst>
            <a:outerShdw sx="100000" sy="100000" kx="0" ky="0" algn="bl" rotWithShape="0" blurRad="152400" dist="38100" dir="5400000">
              <a:srgbClr val="999999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1325880"/>
            <a:ext cx="5577840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Shape 11"/>
          <p:cNvSpPr/>
          <p:nvPr/>
        </p:nvSpPr>
        <p:spPr>
          <a:xfrm>
            <a:off x="6291072" y="1508760"/>
            <a:ext cx="146304" cy="146304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4" name="Shape 12"/>
          <p:cNvSpPr/>
          <p:nvPr/>
        </p:nvSpPr>
        <p:spPr>
          <a:xfrm>
            <a:off x="6510528" y="1508760"/>
            <a:ext cx="146304" cy="146304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729984" y="1508760"/>
            <a:ext cx="146304" cy="146304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0" y="13258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· Assessments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for skill, fast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92240" y="26974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AI-generated or reusable tests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auto-grading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Proctoring &amp; integrity flags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HIRING MANAGER · STEP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58952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&amp; run interviews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642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60020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Interviews → Schedule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an applicant (candidate + role), time, and panel.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50592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50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2386584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in-app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built-in interview room — no external tool.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36976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369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3172968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scorecards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Panelists score independently; peers' ratings unlock only after you submit.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16752" y="1216152"/>
            <a:ext cx="5797296" cy="4791456"/>
          </a:xfrm>
          <a:prstGeom prst="roundRect">
            <a:avLst>
              <a:gd name="adj" fmla="val 1527"/>
            </a:avLst>
          </a:prstGeom>
          <a:solidFill>
            <a:srgbClr val="FFFFFF"/>
          </a:solidFill>
          <a:ln w="12700">
            <a:solidFill>
              <a:srgbClr val="E6DED3"/>
            </a:solidFill>
            <a:prstDash val="solid"/>
          </a:ln>
          <a:effectLst>
            <a:outerShdw sx="100000" sy="100000" kx="0" ky="0" algn="bl" rotWithShape="0" blurRad="152400" dist="38100" dir="5400000">
              <a:srgbClr val="999999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325880"/>
            <a:ext cx="5577840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Shape 14"/>
          <p:cNvSpPr/>
          <p:nvPr/>
        </p:nvSpPr>
        <p:spPr>
          <a:xfrm>
            <a:off x="6291072" y="1508760"/>
            <a:ext cx="146304" cy="146304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0528" y="1508760"/>
            <a:ext cx="146304" cy="146304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8" name="Shape 16"/>
          <p:cNvSpPr/>
          <p:nvPr/>
        </p:nvSpPr>
        <p:spPr>
          <a:xfrm>
            <a:off x="6729984" y="1508760"/>
            <a:ext cx="146304" cy="146304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0" y="13258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· Interviews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Structured, unbiased interviews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92240" y="26974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In-app scheduling &amp; room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management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scorecards — no anchoring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HIRING MANAGER · STEP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58952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with the full picture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642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60020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Funnel, time-to-hire and source metrics across the org.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50592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50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2386584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record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Scores, assessments, interviews and notes all live on the candidate.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346704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34670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3282696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Collaborate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 and @mentions keep the whole panel aligned.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16752" y="1216152"/>
            <a:ext cx="5797296" cy="4791456"/>
          </a:xfrm>
          <a:prstGeom prst="roundRect">
            <a:avLst>
              <a:gd name="adj" fmla="val 1527"/>
            </a:avLst>
          </a:prstGeom>
          <a:solidFill>
            <a:srgbClr val="FFFFFF"/>
          </a:solidFill>
          <a:ln w="12700">
            <a:solidFill>
              <a:srgbClr val="E6DED3"/>
            </a:solidFill>
            <a:prstDash val="solid"/>
          </a:ln>
          <a:effectLst>
            <a:outerShdw sx="100000" sy="100000" kx="0" ky="0" algn="bl" rotWithShape="0" blurRad="152400" dist="38100" dir="5400000">
              <a:srgbClr val="999999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325880"/>
            <a:ext cx="5577840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Shape 14"/>
          <p:cNvSpPr/>
          <p:nvPr/>
        </p:nvSpPr>
        <p:spPr>
          <a:xfrm>
            <a:off x="6291072" y="1508760"/>
            <a:ext cx="146304" cy="146304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0528" y="1508760"/>
            <a:ext cx="146304" cy="146304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8" name="Shape 16"/>
          <p:cNvSpPr/>
          <p:nvPr/>
        </p:nvSpPr>
        <p:spPr>
          <a:xfrm>
            <a:off x="6729984" y="1508760"/>
            <a:ext cx="146304" cy="146304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0" y="13258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· Reports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Data-driven decisions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92240" y="26974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Funnel &amp; time-to-hire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auditable candidate record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 &amp; @mentions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00400"/>
            <a:ext cx="12191695" cy="4572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HOW-TO · ROLE 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401568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4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external experience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· STEP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58952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in minutes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642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60020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apply link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account needed — add profile details and upload a CV.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50592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50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2386584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Branded &amp; clear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Candidates see your company's brand, not a generic form.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16752" y="1216152"/>
            <a:ext cx="5797296" cy="4791456"/>
          </a:xfrm>
          <a:prstGeom prst="roundRect">
            <a:avLst>
              <a:gd name="adj" fmla="val 1527"/>
            </a:avLst>
          </a:prstGeom>
          <a:solidFill>
            <a:srgbClr val="FFFFFF"/>
          </a:solidFill>
          <a:ln w="12700">
            <a:solidFill>
              <a:srgbClr val="E6DED3"/>
            </a:solidFill>
            <a:prstDash val="solid"/>
          </a:ln>
          <a:effectLst>
            <a:outerShdw sx="100000" sy="100000" kx="0" ky="0" algn="bl" rotWithShape="0" blurRad="152400" dist="38100" dir="5400000">
              <a:srgbClr val="999999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1325880"/>
            <a:ext cx="5577840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Shape 11"/>
          <p:cNvSpPr/>
          <p:nvPr/>
        </p:nvSpPr>
        <p:spPr>
          <a:xfrm>
            <a:off x="6291072" y="1508760"/>
            <a:ext cx="146304" cy="146304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4" name="Shape 12"/>
          <p:cNvSpPr/>
          <p:nvPr/>
        </p:nvSpPr>
        <p:spPr>
          <a:xfrm>
            <a:off x="6510528" y="1508760"/>
            <a:ext cx="146304" cy="146304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729984" y="1508760"/>
            <a:ext cx="146304" cy="146304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0" y="13258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· Apply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frictionless application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92240" y="26974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account required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+ CV upload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brand, not a generic form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· STEP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58952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assessments &amp; track status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642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60020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Distraction-free runner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timed test with autosave and a question palette.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50592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50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2386584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Tab-switch/copy detection; question text can't be copied.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36976"/>
            <a:ext cx="384048" cy="384048"/>
          </a:xfrm>
          <a:prstGeom prst="ellipse">
            <a:avLst/>
          </a:prstGeom>
          <a:solidFill>
            <a:srgbClr val="FBE3E0"/>
          </a:solidFill>
          <a:ln w="12700">
            <a:solidFill>
              <a:srgbClr val="E034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369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3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3172968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portal
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application status and next steps from one link.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16752" y="1216152"/>
            <a:ext cx="5797296" cy="4791456"/>
          </a:xfrm>
          <a:prstGeom prst="roundRect">
            <a:avLst>
              <a:gd name="adj" fmla="val 1527"/>
            </a:avLst>
          </a:prstGeom>
          <a:solidFill>
            <a:srgbClr val="FFFFFF"/>
          </a:solidFill>
          <a:ln w="12700">
            <a:solidFill>
              <a:srgbClr val="E6DED3"/>
            </a:solidFill>
            <a:prstDash val="solid"/>
          </a:ln>
          <a:effectLst>
            <a:outerShdw sx="100000" sy="100000" kx="0" ky="0" algn="bl" rotWithShape="0" blurRad="152400" dist="38100" dir="5400000">
              <a:srgbClr val="999999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325880"/>
            <a:ext cx="5577840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Shape 14"/>
          <p:cNvSpPr/>
          <p:nvPr/>
        </p:nvSpPr>
        <p:spPr>
          <a:xfrm>
            <a:off x="6291072" y="1508760"/>
            <a:ext cx="146304" cy="146304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0528" y="1508760"/>
            <a:ext cx="146304" cy="146304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8" name="Shape 16"/>
          <p:cNvSpPr/>
          <p:nvPr/>
        </p:nvSpPr>
        <p:spPr>
          <a:xfrm>
            <a:off x="6729984" y="1508760"/>
            <a:ext cx="146304" cy="146304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0" y="13258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· Portal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Fair, transparent testing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92240" y="26974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Timed runner with autosave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Copy-proof, proctored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✓"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status in the portal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&amp; multi-tenant by design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built 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103120"/>
            <a:ext cx="10424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Row-Level Security isolates every tenant's data at the database layer.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permissions from a central catalogue — the UI and DB never disagree.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two-factor authentication (TOTP / Google Authenticator).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audit log of privileged actions; proctoring evidence with retention limits.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342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6060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 smarter, together.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456432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C4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HireLane — every applicant, down to the right hire.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HireLane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HireLane — AI-assisted ATS</dc:title>
  <dc:subject>PptxGenJS Presentation</dc:subject>
  <dc:creator>HireLane</dc:creator>
  <cp:lastModifiedBy>HireLane</cp:lastModifiedBy>
  <cp:revision>1</cp:revision>
  <dcterms:created xsi:type="dcterms:W3CDTF">2026-08-18T15:42:22Z</dcterms:created>
  <dcterms:modified xsi:type="dcterms:W3CDTF">2026-08-18T15:42:22Z</dcterms:modified>
</cp:coreProperties>
</file>